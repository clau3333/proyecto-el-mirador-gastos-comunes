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F2A4E"/>
          </a:solidFill>
          <a:ln>
            <a:solidFill>
              <a:srgbClr val="0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3749039" cy="4572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Edificio El Mirador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1152144"/>
            <a:ext cx="36576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0">
                <a:solidFill>
                  <a:srgbClr val="93C5FD"/>
                </a:solidFill>
                <a:latin typeface="Aptos"/>
              </a:defRPr>
            </a:pPr>
            <a:r>
              <a:t>Gestión de Gastos Comunes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48840"/>
            <a:ext cx="3749039" cy="8229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Prototipo funcional de software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3063240"/>
            <a:ext cx="365760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  <a:latin typeface="Aptos"/>
              </a:defRPr>
            </a:pPr>
            <a:r>
              <a:t>Parcial 3 · Ingeniería de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349240"/>
            <a:ext cx="3657600" cy="6400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300" b="0">
                <a:solidFill>
                  <a:srgbClr val="DBEAFE"/>
                </a:solidFill>
                <a:latin typeface="Aptos"/>
              </a:defRPr>
            </a:pPr>
            <a:r>
              <a:t>Herramienta: Figma / Figma Make</a:t>
            </a:r>
            <a:br/>
            <a:r>
              <a:t>Fecha de entrega: 25-06-2026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685800"/>
            <a:ext cx="62636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irador_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2145146"/>
            <a:ext cx="5897880" cy="24305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Contexto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Caso Edificio El Mirador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27432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100" b="1">
                <a:solidFill>
                  <a:srgbClr val="0F2A4E"/>
                </a:solidFill>
                <a:latin typeface="Aptos"/>
              </a:defRPr>
            </a:pPr>
            <a:r>
              <a:t>Situación actual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24028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Edificio con 20 pisos y 160 departamentos.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60% propietarios y 40% arrendatarios.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Procesos manuales para pagos y cobros.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Dificultad para identificar morosidad y comunicar avisos.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91840" cy="43891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37360"/>
            <a:ext cx="27432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100" b="1">
                <a:solidFill>
                  <a:srgbClr val="DC2626"/>
                </a:solidFill>
                <a:latin typeface="Aptos"/>
              </a:defRPr>
            </a:pPr>
            <a:r>
              <a:t>Impactos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1728" y="224028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Aumento de morosidad y problemas de liquidez.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Retraso de mantenciones y reparaciones.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Riesgo de errores administrativos.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Desconfianza por falta de transparencia.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291840" cy="438912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27432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100" b="1">
                <a:solidFill>
                  <a:srgbClr val="166534"/>
                </a:solidFill>
                <a:latin typeface="Aptos"/>
              </a:defRPr>
            </a:pPr>
            <a:r>
              <a:t>Necesidad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240280"/>
            <a:ext cx="2743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Sistema automatizado para gastos comunes.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Registro de pagos y generación de reportes.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Alertas y recordatorios de cobro.</a:t>
            </a:r>
          </a:p>
          <a:p>
            <a:pPr marL="114300" indent="-228600">
              <a:spcAft>
                <a:spcPts val="800"/>
              </a:spcAft>
              <a:defRPr sz="1600">
                <a:solidFill>
                  <a:srgbClr val="1E293B"/>
                </a:solidFill>
                <a:latin typeface="Aptos"/>
              </a:defRPr>
            </a:pPr>
            <a:r>
              <a:t>Acceso claro para administración y residentes.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Objetivo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Solución propuesta para la administración del edificio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0652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149840" cy="5029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2000" b="0">
                <a:solidFill>
                  <a:srgbClr val="1E293B"/>
                </a:solidFill>
                <a:latin typeface="Aptos"/>
              </a:defRPr>
            </a:pPr>
            <a:r>
              <a:t>Desarrollar un prototipo funcional que permita gestionar pagos, morosidad, residentes, solicitudes e informes, asegurando transparencia y eficiencia en la gestión de recursos del edificio.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063240"/>
            <a:ext cx="2423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3273552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255264"/>
            <a:ext cx="16459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Automatizar cobros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3840480"/>
            <a:ext cx="1920240" cy="9601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t>Registrar pagos, estados y fechas para reducir errores administrativos.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063240"/>
            <a:ext cx="2423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85032" y="3273552"/>
            <a:ext cx="411480" cy="411480"/>
          </a:xfrm>
          <a:prstGeom prst="ellipse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3255264"/>
            <a:ext cx="16459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Controlar morosidad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840480"/>
            <a:ext cx="1920240" cy="9601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t>Identificar deudores, montos pendientes y enviar recordatorios.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063240"/>
            <a:ext cx="2423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1" y="3273552"/>
            <a:ext cx="411480" cy="411480"/>
          </a:xfrm>
          <a:prstGeom prst="ellipse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255264"/>
            <a:ext cx="16459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Gestionar residentes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3840480"/>
            <a:ext cx="1920240" cy="9601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t>Mantener datos de propietarios, arrendatarios y departamentos.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3063240"/>
            <a:ext cx="24231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71432" y="3273552"/>
            <a:ext cx="411480" cy="411480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3255264"/>
            <a:ext cx="16459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1E293B"/>
                </a:solidFill>
                <a:latin typeface="Aptos"/>
              </a:defRPr>
            </a:pPr>
            <a:r>
              <a:t>Apoyar decisiones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3840480"/>
            <a:ext cx="1920240" cy="9601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t>Visualizar reportes e indicadores para la administración.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Módulos del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Pantallas funcionales incluidas en Figma Make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19202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0F2A4E"/>
                </a:solidFill>
                <a:latin typeface="Aptos"/>
              </a:defRPr>
            </a:pPr>
            <a:r>
              <a:t>Inicio de sesión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92808"/>
            <a:ext cx="438912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Acceso con credenciales demo y botón Ingresar.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72768"/>
            <a:ext cx="19202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0F2A4E"/>
                </a:solidFill>
                <a:latin typeface="Aptos"/>
              </a:defRPr>
            </a:pPr>
            <a:r>
              <a:t>Panel principal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92808"/>
            <a:ext cx="438912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Resumen de pagos, residentes, solicitudes y morosidad.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60604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761488"/>
            <a:ext cx="19202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0F2A4E"/>
                </a:solidFill>
                <a:latin typeface="Aptos"/>
              </a:defRPr>
            </a:pPr>
            <a:r>
              <a:t>Residentes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81528"/>
            <a:ext cx="438912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Listado, búsqueda y formulario para agregar residente.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60604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761488"/>
            <a:ext cx="19202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0F2A4E"/>
                </a:solidFill>
                <a:latin typeface="Aptos"/>
              </a:defRPr>
            </a:pPr>
            <a:r>
              <a:t>Pagos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81528"/>
            <a:ext cx="438912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Registro mensual, estado de pago y acción Registrar.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79476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50208"/>
            <a:ext cx="19202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0F2A4E"/>
                </a:solidFill>
                <a:latin typeface="Aptos"/>
              </a:defRPr>
            </a:pPr>
            <a:r>
              <a:t>Morosidad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70248"/>
            <a:ext cx="438912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Alerta, deuda acumulada y envío de recordatorios.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379476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950208"/>
            <a:ext cx="19202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0F2A4E"/>
                </a:solidFill>
                <a:latin typeface="Aptos"/>
              </a:defRPr>
            </a:pPr>
            <a:r>
              <a:t>Solicitudes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70248"/>
            <a:ext cx="438912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Registro y seguimiento de solicitudes o quejas.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983480"/>
            <a:ext cx="498348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138928"/>
            <a:ext cx="19202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700" b="1">
                <a:solidFill>
                  <a:srgbClr val="0F2A4E"/>
                </a:solidFill>
                <a:latin typeface="Aptos"/>
              </a:defRPr>
            </a:pPr>
            <a:r>
              <a:t>Informes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58968"/>
            <a:ext cx="438912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Resumen visual y exportación de reportes.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217920"/>
            <a:ext cx="1005840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Aptos"/>
              </a:defRPr>
            </a:pPr>
            <a:r>
              <a:t>Navegación lateral + botones de acción para simular el flujo del sistema.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Pantalla 1: Inicio de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Ingreso al sistema con credenciales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ador_logi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54772"/>
            <a:ext cx="6766560" cy="278853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325880"/>
            <a:ext cx="6766560" cy="4846320"/>
          </a:xfrm>
          <a:prstGeom prst="round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3611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600200"/>
            <a:ext cx="2926080" cy="3657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000" b="1">
                <a:solidFill>
                  <a:srgbClr val="0F2A4E"/>
                </a:solidFill>
                <a:latin typeface="Aptos"/>
              </a:defRPr>
            </a:pPr>
            <a:r>
              <a:t>Elementos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4884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Nombre del sistema y propósito del prototipo.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Formulario de correo y contraseña.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Botón “Ingresar” con navegación al panel principal.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Credenciales demo para facilitar la prueba.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Diseño claro, profesional y consistente.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Pantalla 2: Panel principal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Resumen ejecutivo para la administración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ador_dashboar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05088"/>
            <a:ext cx="7498079" cy="31793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234440"/>
            <a:ext cx="7498079" cy="5120640"/>
          </a:xfrm>
          <a:prstGeom prst="round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21040" y="1234440"/>
            <a:ext cx="32461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0" y="1536192"/>
            <a:ext cx="2743200" cy="3657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900" b="1">
                <a:solidFill>
                  <a:srgbClr val="0F2A4E"/>
                </a:solidFill>
                <a:latin typeface="Aptos"/>
              </a:defRPr>
            </a:pPr>
            <a:r>
              <a:t>Información disponible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057400"/>
            <a:ext cx="2743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Total recaudado del mes.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Morosidad pendiente.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Cantidad de residentes.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Solicitudes abiertas.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Tabla de últimos pagos.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Acciones rápidas: registrar pago, agregar residente, nueva solicitud e informes.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Pantalla 3: Gestión de residentes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Registro de propietarios y arrendatarios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ador_residente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5000"/>
            <a:ext cx="7315200" cy="33337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234440"/>
            <a:ext cx="7315200" cy="5074920"/>
          </a:xfrm>
          <a:prstGeom prst="round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4290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536192"/>
            <a:ext cx="2926080" cy="4572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900" b="1">
                <a:solidFill>
                  <a:srgbClr val="0F2A4E"/>
                </a:solidFill>
                <a:latin typeface="Aptos"/>
              </a:defRPr>
            </a:pPr>
            <a:r>
              <a:t>Cumplimiento del requisito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2" y="21488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Listado con nombre, departamento, tipo, teléfono, correo y estado.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Búsqueda por nombre, departamento o correo.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Botón “Agregar residente”.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Formulario con datos de contacto y tipo de residencia.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Pantalla 4: Gestión de pagos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Control de cuotas de gastos comunes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ador_pago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2000"/>
            <a:ext cx="7315200" cy="333979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234440"/>
            <a:ext cx="7315200" cy="5074920"/>
          </a:xfrm>
          <a:prstGeom prst="round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429000" cy="5074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536192"/>
            <a:ext cx="2926080" cy="4572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900" b="1">
                <a:solidFill>
                  <a:srgbClr val="0F2A4E"/>
                </a:solidFill>
                <a:latin typeface="Aptos"/>
              </a:defRPr>
            </a:pPr>
            <a:r>
              <a:t>Funcionalidades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2" y="21488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Registro de pagos por departamento y residente.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Mes, monto, fecha de pago y estado.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Estados visuales: Pagado, Pendiente y Moroso.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Acción para registrar pagos pendientes.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Pantalla 5: Morosidad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Seguimiento de deuda y recordatorios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irador_morosidad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257814"/>
            <a:ext cx="7315200" cy="302817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94360" y="1234440"/>
            <a:ext cx="7315200" cy="5074920"/>
          </a:xfrm>
          <a:prstGeom prst="roundRect">
            <a:avLst/>
          </a:prstGeom>
          <a:noFill/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83879" y="1234440"/>
            <a:ext cx="34290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536192"/>
            <a:ext cx="2926080" cy="4572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900" b="1">
                <a:solidFill>
                  <a:srgbClr val="0F2A4E"/>
                </a:solidFill>
                <a:latin typeface="Aptos"/>
              </a:defRPr>
            </a:pPr>
            <a:r>
              <a:t>Valor para el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912" y="2148840"/>
            <a:ext cx="2834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Alerta de morosidad activa.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Deuda acumulada y cantidad de morosos.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Detalle por residente, departamento y meses de deuda.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Botón “Enviar recordatorio” para apoyar la gestión de cobro.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Plan de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Casos de prueba alineados a ISO/IEC 25000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11480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000" b="1">
                <a:solidFill>
                  <a:srgbClr val="0F2A4E"/>
                </a:solidFill>
                <a:latin typeface="Aptos"/>
              </a:defRPr>
            </a:pPr>
            <a:r>
              <a:t>Objetivo de las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55648"/>
            <a:ext cx="4572000" cy="7315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Verificar que el prototipo cumpla las funcionalidades principales, sea comprensible para el usuario y permita simular los flujos críticos del sistema.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743200"/>
            <a:ext cx="10698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43784"/>
            <a:ext cx="914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CP-01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43784"/>
            <a:ext cx="2057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Aptos"/>
              </a:defRPr>
            </a:pPr>
            <a:r>
              <a:t>Iniciar sesión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843784"/>
            <a:ext cx="265176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Credenciales válidas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843784"/>
            <a:ext cx="384048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Acceso al panel principal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246120"/>
            <a:ext cx="10698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346703"/>
            <a:ext cx="914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CP-02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46703"/>
            <a:ext cx="2057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Aptos"/>
              </a:defRPr>
            </a:pPr>
            <a:r>
              <a:t>Agregar residente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346703"/>
            <a:ext cx="265176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Datos completos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346703"/>
            <a:ext cx="384048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Formulario acepta registro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49039"/>
            <a:ext cx="10698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49624"/>
            <a:ext cx="914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CP-03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49624"/>
            <a:ext cx="2057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Aptos"/>
              </a:defRPr>
            </a:pPr>
            <a:r>
              <a:t>Registrar pago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849624"/>
            <a:ext cx="265176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Pago pendiente/moroso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849624"/>
            <a:ext cx="384048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Estado actualizado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251960"/>
            <a:ext cx="10698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352544"/>
            <a:ext cx="914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CP-04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352544"/>
            <a:ext cx="2057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Aptos"/>
              </a:defRPr>
            </a:pPr>
            <a:r>
              <a:t>Ver morosidad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352544"/>
            <a:ext cx="265176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Usuario moroso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352544"/>
            <a:ext cx="384048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Deuda y alerta visibles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754880"/>
            <a:ext cx="1069848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855464"/>
            <a:ext cx="914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CP-05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55464"/>
            <a:ext cx="2057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Aptos"/>
              </a:defRPr>
            </a:pPr>
            <a:r>
              <a:t>Enviar recordatorio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855464"/>
            <a:ext cx="265176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Deuda activa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855464"/>
            <a:ext cx="384048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Acción disponible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257800"/>
            <a:ext cx="10698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358384"/>
            <a:ext cx="914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CP-06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358384"/>
            <a:ext cx="2057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1E293B"/>
                </a:solidFill>
                <a:latin typeface="Aptos"/>
              </a:defRPr>
            </a:pPr>
            <a:r>
              <a:t>Generar informe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23360" y="5358384"/>
            <a:ext cx="265176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Datos del 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5358384"/>
            <a:ext cx="384048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t>Reporte visible/exportable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2240280"/>
            <a:ext cx="10698480" cy="411480"/>
          </a:xfrm>
          <a:prstGeom prst="rect">
            <a:avLst/>
          </a:prstGeom>
          <a:solidFill>
            <a:srgbClr val="0F2A4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2350008"/>
            <a:ext cx="914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2350008"/>
            <a:ext cx="205740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Caso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23360" y="2350008"/>
            <a:ext cx="265176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Dato de prueba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350008"/>
            <a:ext cx="384048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Resultado esperado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6080760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Archivo asociado: Planillas_Encargo_El_Mirador_fechas_3_semanas.xlsx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Control de cambios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Versionamiento documentado del prototipo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10149840" cy="3657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2633472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04-06-2026</a:t>
            </a:r>
          </a:p>
        </p:txBody>
      </p:sp>
      <p:sp>
        <p:nvSpPr>
          <p:cNvPr id="9" name="Oval 8"/>
          <p:cNvSpPr/>
          <p:nvPr/>
        </p:nvSpPr>
        <p:spPr>
          <a:xfrm>
            <a:off x="2254649" y="2633472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4337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V1.1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1457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06-06-2026</a:t>
            </a:r>
          </a:p>
        </p:txBody>
      </p:sp>
      <p:sp>
        <p:nvSpPr>
          <p:cNvPr id="12" name="Oval 11"/>
          <p:cNvSpPr/>
          <p:nvPr/>
        </p:nvSpPr>
        <p:spPr>
          <a:xfrm>
            <a:off x="3704626" y="2633472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94314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V1.2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1434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09-06-2026</a:t>
            </a:r>
          </a:p>
        </p:txBody>
      </p:sp>
      <p:sp>
        <p:nvSpPr>
          <p:cNvPr id="15" name="Oval 14"/>
          <p:cNvSpPr/>
          <p:nvPr/>
        </p:nvSpPr>
        <p:spPr>
          <a:xfrm>
            <a:off x="5154603" y="2633472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4291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V1.3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1411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12-06-2026</a:t>
            </a:r>
          </a:p>
        </p:txBody>
      </p:sp>
      <p:sp>
        <p:nvSpPr>
          <p:cNvPr id="18" name="Oval 17"/>
          <p:cNvSpPr/>
          <p:nvPr/>
        </p:nvSpPr>
        <p:spPr>
          <a:xfrm>
            <a:off x="6604580" y="2633472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4268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V1.4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388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16-06-2026</a:t>
            </a:r>
          </a:p>
        </p:txBody>
      </p:sp>
      <p:sp>
        <p:nvSpPr>
          <p:cNvPr id="21" name="Oval 20"/>
          <p:cNvSpPr/>
          <p:nvPr/>
        </p:nvSpPr>
        <p:spPr>
          <a:xfrm>
            <a:off x="8054557" y="2633472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4245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V1.5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1365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19-06-2026</a:t>
            </a:r>
          </a:p>
        </p:txBody>
      </p:sp>
      <p:sp>
        <p:nvSpPr>
          <p:cNvPr id="24" name="Oval 23"/>
          <p:cNvSpPr/>
          <p:nvPr/>
        </p:nvSpPr>
        <p:spPr>
          <a:xfrm>
            <a:off x="9504534" y="2633472"/>
            <a:ext cx="219456" cy="219456"/>
          </a:xfrm>
          <a:prstGeom prst="ellipse">
            <a:avLst/>
          </a:prstGeom>
          <a:solidFill>
            <a:srgbClr val="2563E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4222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V1.6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1342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22-06-2026</a:t>
            </a:r>
          </a:p>
        </p:txBody>
      </p:sp>
      <p:sp>
        <p:nvSpPr>
          <p:cNvPr id="27" name="Oval 26"/>
          <p:cNvSpPr/>
          <p:nvPr/>
        </p:nvSpPr>
        <p:spPr>
          <a:xfrm>
            <a:off x="10954512" y="2633472"/>
            <a:ext cx="219456" cy="219456"/>
          </a:xfrm>
          <a:prstGeom prst="ellipse">
            <a:avLst/>
          </a:prstGeom>
          <a:solidFill>
            <a:srgbClr val="10B98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2971800"/>
            <a:ext cx="64008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200" b="1">
                <a:solidFill>
                  <a:srgbClr val="0F2A4E"/>
                </a:solidFill>
                <a:latin typeface="Aptos"/>
              </a:defRPr>
            </a:pPr>
            <a:r>
              <a:t>V2.0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19" y="3246120"/>
            <a:ext cx="1005840" cy="201168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900" b="0">
                <a:solidFill>
                  <a:srgbClr val="475569"/>
                </a:solidFill>
                <a:latin typeface="Aptos"/>
              </a:defRPr>
            </a:pPr>
            <a:r>
              <a:t>25-06-2026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13716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1554480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V1.0 · 04-06-2026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1810512"/>
            <a:ext cx="210312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Definición del alcance y estructura inicial.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11879" y="13716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1554480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V1.1 · 06-06-2026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1810512"/>
            <a:ext cx="210312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Pantalla de inicio de sesión.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13716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79" y="1554480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V1.2 · 09-06-2026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1810512"/>
            <a:ext cx="210312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Panel principal con tarjetas e indicadores.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89719" y="13716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72599" y="1554480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V1.3 · 12-06-2026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599" y="1810512"/>
            <a:ext cx="210312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Gestión de residentes y formulario de alta.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29768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462272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V1.4 · 16-06-2026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718304"/>
            <a:ext cx="21031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Gestión de pagos y estados visuales.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1879" y="429768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94760" y="4462272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V1.5 · 19-06-2026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4760" y="4718304"/>
            <a:ext cx="21031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Módulo de morosidad y recordatorios.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429768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79" y="4462272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2563EB"/>
                </a:solidFill>
                <a:latin typeface="Aptos"/>
              </a:defRPr>
            </a:pPr>
            <a:r>
              <a:t>V1.6 · 22-06-2026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79" y="4718304"/>
            <a:ext cx="21031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Solicitudes, informes y navegación.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19" y="4297680"/>
            <a:ext cx="24688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599" y="4462272"/>
            <a:ext cx="21031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150" b="1">
                <a:solidFill>
                  <a:srgbClr val="10B981"/>
                </a:solidFill>
                <a:latin typeface="Aptos"/>
              </a:defRPr>
            </a:pPr>
            <a:r>
              <a:t>V2.0 · 25-06-2026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599" y="4718304"/>
            <a:ext cx="21031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950" b="0">
                <a:solidFill>
                  <a:srgbClr val="475569"/>
                </a:solidFill>
                <a:latin typeface="Aptos"/>
              </a:defRPr>
            </a:pPr>
            <a:r>
              <a:t>Revisión final, pruebas y entrega.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ptos"/>
              </a:defRPr>
            </a:pPr>
            <a:r>
              <a:t>Las versiones se registran en la planilla de control de cambios, con fecha, módulo afectado, cambio realizado, responsable, estado y evidencia.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Entrega del encargo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Elementos incluidos para la evaluación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516636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480560" cy="3657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100" b="1">
                <a:solidFill>
                  <a:srgbClr val="0F2A4E"/>
                </a:solidFill>
                <a:latin typeface="Aptos"/>
              </a:defRPr>
            </a:pPr>
            <a:r>
              <a:t>Repositorio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480560" cy="7315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300" b="0">
                <a:solidFill>
                  <a:srgbClr val="2563EB"/>
                </a:solidFill>
                <a:latin typeface="Aptos"/>
              </a:defRPr>
            </a:pPr>
            <a:r>
              <a:t>https://github.com/Clau3333/proyecto-el-mirador-gastos-comunes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README.md con descripción y enlace al prototipo.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documentacion/: planilla de pruebas y control de cambios.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prototipo/: archivo o enlace del prototipo funcional.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evidencias/: capturas de pantallas principales.</a:t>
            </a:r>
          </a:p>
          <a:p>
            <a:pPr marL="114300" indent="-228600">
              <a:spcAft>
                <a:spcPts val="8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presentacion/: archivo PPT de exposición.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074920" cy="43891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45920"/>
            <a:ext cx="4389120" cy="36576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100" b="1">
                <a:solidFill>
                  <a:srgbClr val="0F2A4E"/>
                </a:solidFill>
                <a:latin typeface="Aptos"/>
              </a:defRPr>
            </a:pPr>
            <a:r>
              <a:t>Cierre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El prototipo aborda los problemas de pagos, morosidad y comunicación.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Permite una navegación clara entre módulos críticos.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La planilla de pruebas evidencia validación funcional.</a:t>
            </a:r>
          </a:p>
          <a:p>
            <a:pPr marL="114300" indent="-228600">
              <a:spcAft>
                <a:spcPts val="800"/>
              </a:spcAft>
              <a:defRPr sz="1500">
                <a:solidFill>
                  <a:srgbClr val="1E293B"/>
                </a:solidFill>
                <a:latin typeface="Aptos"/>
              </a:defRPr>
            </a:pPr>
            <a:r>
              <a:t>El control de cambios demuestra iteración y mejora continua.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892040"/>
            <a:ext cx="438912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Link del prototipo Figma Make: pegar en README y mencionar durante la presentación.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4114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2800" b="1">
                <a:solidFill>
                  <a:srgbClr val="1E293B"/>
                </a:solidFill>
                <a:latin typeface="Aptos"/>
              </a:defRPr>
            </a:pPr>
            <a:r>
              <a:t>Guion breve para exponer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49808"/>
            <a:ext cx="10607040" cy="27432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Orden sugerido para la presentación individual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10972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41732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490472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35608"/>
            <a:ext cx="18288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1">
                <a:solidFill>
                  <a:srgbClr val="0F2A4E"/>
                </a:solidFill>
                <a:latin typeface="Aptos"/>
              </a:defRPr>
            </a:pPr>
            <a:r>
              <a:t>Contexto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35608"/>
            <a:ext cx="786384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Explicar problemas del edificio: gestión manual, morosidad, poca transparencia.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14884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167128"/>
            <a:ext cx="18288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1">
                <a:solidFill>
                  <a:srgbClr val="0F2A4E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167128"/>
            <a:ext cx="786384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Presentar la solución: prototipo para gastos comunes y administración.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88036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953512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898648"/>
            <a:ext cx="18288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1">
                <a:solidFill>
                  <a:srgbClr val="0F2A4E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898648"/>
            <a:ext cx="786384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Mostrar inicio de sesión, panel, residentes, pagos, morosidad, solicitudes e informes.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361188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685032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30168"/>
            <a:ext cx="18288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1">
                <a:solidFill>
                  <a:srgbClr val="0F2A4E"/>
                </a:solidFill>
                <a:latin typeface="Aptos"/>
              </a:defRPr>
            </a:pPr>
            <a:r>
              <a:t>Calidad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3630168"/>
            <a:ext cx="786384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Mencionar ISO/IEC 25000, usabilidad, funcionalidad y mantenibilidad.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34340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416552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61688"/>
            <a:ext cx="18288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1">
                <a:solidFill>
                  <a:srgbClr val="0F2A4E"/>
                </a:solidFill>
                <a:latin typeface="Aptos"/>
              </a:defRPr>
            </a:pPr>
            <a:r>
              <a:t>Pruebas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361688"/>
            <a:ext cx="786384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Mostrar planilla con casos de prueba, datos usados y resultados.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5074920"/>
            <a:ext cx="411480" cy="411480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148072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093207"/>
            <a:ext cx="182880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600" b="1">
                <a:solidFill>
                  <a:srgbClr val="0F2A4E"/>
                </a:solidFill>
                <a:latin typeface="Aptos"/>
              </a:defRPr>
            </a:pPr>
            <a:r>
              <a:t>Versiones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5093207"/>
            <a:ext cx="7863840" cy="32004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Mostrar control de cambios V1.0 a V2.0 y mejoras realizadas.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943600"/>
            <a:ext cx="103327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6108192"/>
            <a:ext cx="9875520" cy="22860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ctr">
              <a:defRPr sz="1300" b="0">
                <a:solidFill>
                  <a:srgbClr val="1E293B"/>
                </a:solidFill>
                <a:latin typeface="Aptos"/>
              </a:defRPr>
            </a:pPr>
            <a:r>
              <a:t>Frase de cierre sugerida: “Este prototipo centraliza la administración del edificio y mejora la transparencia en la gestión de gastos comunes.”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31168" y="6510528"/>
            <a:ext cx="274320" cy="182880"/>
          </a:xfrm>
          <a:prstGeom prst="rect">
            <a:avLst/>
          </a:prstGeom>
          <a:noFill/>
        </p:spPr>
        <p:txBody>
          <a:bodyPr wrap="none" lIns="18288" rIns="18288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